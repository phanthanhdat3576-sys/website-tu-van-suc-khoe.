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ileron Bold" panose="020B0604020202020204" charset="0"/>
      <p:regular r:id="rId14"/>
    </p:embeddedFon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Montserrat Bold" panose="00000800000000000000" pitchFamily="2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B7D993-9907-2F7E-2C59-2612491119B5}" v="1049" dt="2026-05-15T06:29:31.2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80" y="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14145" y="0"/>
            <a:ext cx="20409103" cy="1443068"/>
          </a:xfrm>
          <a:custGeom>
            <a:avLst/>
            <a:gdLst/>
            <a:ahLst/>
            <a:cxnLst/>
            <a:rect l="l" t="t" r="r" b="b"/>
            <a:pathLst>
              <a:path w="20409103" h="1443068">
                <a:moveTo>
                  <a:pt x="0" y="0"/>
                </a:moveTo>
                <a:lnTo>
                  <a:pt x="20409103" y="0"/>
                </a:lnTo>
                <a:lnTo>
                  <a:pt x="20409103" y="1443068"/>
                </a:lnTo>
                <a:lnTo>
                  <a:pt x="0" y="1443068"/>
                </a:lnTo>
                <a:lnTo>
                  <a:pt x="0" y="0"/>
                </a:lnTo>
                <a:close/>
              </a:path>
            </a:pathLst>
          </a:custGeom>
          <a:solidFill>
            <a:srgbClr val="ED7D31"/>
          </a:solidFill>
        </p:spPr>
      </p:sp>
      <p:sp>
        <p:nvSpPr>
          <p:cNvPr id="4" name="Freeform 4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-1748364" y="8843932"/>
            <a:ext cx="20409103" cy="1443068"/>
          </a:xfrm>
          <a:custGeom>
            <a:avLst/>
            <a:gdLst/>
            <a:ahLst/>
            <a:cxnLst/>
            <a:rect l="l" t="t" r="r" b="b"/>
            <a:pathLst>
              <a:path w="20409103" h="1443068">
                <a:moveTo>
                  <a:pt x="20409103" y="1443068"/>
                </a:moveTo>
                <a:lnTo>
                  <a:pt x="0" y="1443068"/>
                </a:lnTo>
                <a:lnTo>
                  <a:pt x="0" y="0"/>
                </a:lnTo>
                <a:lnTo>
                  <a:pt x="20409103" y="0"/>
                </a:lnTo>
                <a:lnTo>
                  <a:pt x="20409103" y="1443068"/>
                </a:lnTo>
                <a:close/>
              </a:path>
            </a:pathLst>
          </a:custGeom>
          <a:solidFill>
            <a:srgbClr val="ED7D31"/>
          </a:solidFill>
        </p:spPr>
      </p:sp>
      <p:sp>
        <p:nvSpPr>
          <p:cNvPr id="6" name="Freeform 6"/>
          <p:cNvSpPr/>
          <p:nvPr/>
        </p:nvSpPr>
        <p:spPr>
          <a:xfrm>
            <a:off x="13169859" y="5618309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747997" y="3120140"/>
            <a:ext cx="10792006" cy="1692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13"/>
              </a:lnSpc>
            </a:pPr>
            <a:r>
              <a:rPr lang="en-US" sz="6150" b="1" dirty="0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Xây Dựng Website  </a:t>
            </a:r>
            <a:r>
              <a:rPr lang="en-US" sz="6150" b="1" dirty="0" err="1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tư</a:t>
            </a:r>
            <a:r>
              <a:rPr lang="en-US" sz="6150" b="1" dirty="0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6150" b="1" dirty="0" err="1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vấn</a:t>
            </a:r>
            <a:r>
              <a:rPr lang="en-US" sz="6150" b="1" dirty="0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6150" b="1" dirty="0" err="1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và</a:t>
            </a:r>
            <a:r>
              <a:rPr lang="en-US" sz="6150" b="1" dirty="0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6150" b="1" dirty="0" err="1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theo</a:t>
            </a:r>
            <a:r>
              <a:rPr lang="en-US" sz="6150" b="1" dirty="0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6150" b="1" dirty="0" err="1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dõi</a:t>
            </a:r>
            <a:r>
              <a:rPr lang="en-US" sz="6150" b="1" dirty="0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6150" b="1" dirty="0" err="1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sức</a:t>
            </a:r>
            <a:r>
              <a:rPr lang="en-US" sz="6150" b="1" dirty="0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6150" b="1" dirty="0" err="1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khỏe</a:t>
            </a:r>
            <a:r>
              <a:rPr lang="en-US" sz="6150" b="1" dirty="0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6150" b="1" dirty="0" err="1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cá</a:t>
            </a:r>
            <a:r>
              <a:rPr lang="en-US" sz="6150" b="1" dirty="0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6150" b="1" dirty="0" err="1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nhân</a:t>
            </a:r>
            <a:endParaRPr lang="en-US" sz="6150" b="1" dirty="0" err="1">
              <a:solidFill>
                <a:srgbClr val="1F305D"/>
              </a:solidFill>
              <a:latin typeface="Aileron Bold"/>
              <a:ea typeface="Aileron Bold"/>
              <a:cs typeface="Aileron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000234" y="4990423"/>
            <a:ext cx="11380345" cy="1312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49"/>
              </a:lnSpc>
            </a:pPr>
            <a:r>
              <a:rPr lang="en-US" sz="4800" b="1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SV: Phan Thành Đạt</a:t>
            </a:r>
            <a:endParaRPr lang="en-US" sz="4813" b="1">
              <a:solidFill>
                <a:srgbClr val="576179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marL="0" lvl="0" indent="0" algn="ctr">
              <a:lnSpc>
                <a:spcPts val="5149"/>
              </a:lnSpc>
            </a:pPr>
            <a:r>
              <a:rPr lang="en-US" sz="4800" b="1" dirty="0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GVHD: </a:t>
            </a:r>
            <a:r>
              <a:rPr lang="en-US" sz="4800" b="1" dirty="0" err="1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ThS</a:t>
            </a:r>
            <a:r>
              <a:rPr lang="en-US" sz="4800" b="1" dirty="0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. Nguyễn Hoàng Duy Thiện</a:t>
            </a:r>
            <a:endParaRPr lang="en-US" sz="4800" b="1" dirty="0">
              <a:solidFill>
                <a:srgbClr val="576179"/>
              </a:solidFill>
              <a:latin typeface="Aileron Bold"/>
              <a:ea typeface="Aileron Bold"/>
              <a:cs typeface="Aileron Bold"/>
            </a:endParaRPr>
          </a:p>
        </p:txBody>
      </p:sp>
      <p:sp>
        <p:nvSpPr>
          <p:cNvPr id="9" name="Freeform 9"/>
          <p:cNvSpPr/>
          <p:nvPr/>
        </p:nvSpPr>
        <p:spPr>
          <a:xfrm flipH="1">
            <a:off x="-1050468" y="1355173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1" y="3396585"/>
                </a:lnTo>
                <a:lnTo>
                  <a:pt x="511814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168815" y="2927354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4297777" y="921285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solidFill>
            <a:schemeClr val="tx1"/>
          </a:solidFill>
        </p:spPr>
      </p:sp>
      <p:sp>
        <p:nvSpPr>
          <p:cNvPr id="6" name="Freeform 6"/>
          <p:cNvSpPr/>
          <p:nvPr/>
        </p:nvSpPr>
        <p:spPr>
          <a:xfrm>
            <a:off x="-205262" y="-488243"/>
            <a:ext cx="5281132" cy="3984854"/>
          </a:xfrm>
          <a:custGeom>
            <a:avLst/>
            <a:gdLst/>
            <a:ahLst/>
            <a:cxnLst/>
            <a:rect l="l" t="t" r="r" b="b"/>
            <a:pathLst>
              <a:path w="5281132" h="3984854">
                <a:moveTo>
                  <a:pt x="0" y="0"/>
                </a:moveTo>
                <a:lnTo>
                  <a:pt x="5281132" y="0"/>
                </a:lnTo>
                <a:lnTo>
                  <a:pt x="5281132" y="3984854"/>
                </a:lnTo>
                <a:lnTo>
                  <a:pt x="0" y="3984854"/>
                </a:lnTo>
                <a:lnTo>
                  <a:pt x="0" y="0"/>
                </a:lnTo>
                <a:close/>
              </a:path>
            </a:pathLst>
          </a:custGeom>
          <a:solidFill>
            <a:srgbClr val="ED7D31"/>
          </a:solidFill>
        </p:spPr>
      </p:sp>
      <p:sp>
        <p:nvSpPr>
          <p:cNvPr id="7" name="Freeform 7"/>
          <p:cNvSpPr/>
          <p:nvPr/>
        </p:nvSpPr>
        <p:spPr>
          <a:xfrm flipH="1" flipV="1">
            <a:off x="13409572" y="6838370"/>
            <a:ext cx="5171931" cy="3902457"/>
          </a:xfrm>
          <a:custGeom>
            <a:avLst/>
            <a:gdLst/>
            <a:ahLst/>
            <a:cxnLst/>
            <a:rect l="l" t="t" r="r" b="b"/>
            <a:pathLst>
              <a:path w="5171931" h="3902457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solidFill>
            <a:srgbClr val="ED7D31"/>
          </a:solidFill>
        </p:spPr>
      </p:sp>
      <p:sp>
        <p:nvSpPr>
          <p:cNvPr id="8" name="TextBox 8"/>
          <p:cNvSpPr txBox="1"/>
          <p:nvPr/>
        </p:nvSpPr>
        <p:spPr>
          <a:xfrm>
            <a:off x="4196550" y="4452812"/>
            <a:ext cx="9894900" cy="3257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06"/>
              </a:lnSpc>
            </a:pP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Tên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đề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tài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Xây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dựng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website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tư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vấn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và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theo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dõi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sức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khỏe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cá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nhân</a:t>
            </a:r>
            <a:endParaRPr lang="en-US" sz="2750" dirty="0" err="1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  <a:p>
            <a:pPr>
              <a:lnSpc>
                <a:spcPts val="4306"/>
              </a:lnSpc>
            </a:pP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Mục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tiêu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Tư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vấn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 - Theo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dõi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sức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khỏe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cá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nhân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 -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Đưa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ra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hướng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giải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quyết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cho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khách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hàng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 </a:t>
            </a:r>
            <a:endParaRPr lang="en-US" sz="2750" dirty="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  <a:p>
            <a:pPr>
              <a:lnSpc>
                <a:spcPts val="4306"/>
              </a:lnSpc>
            </a:pP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Công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cụ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chính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 XAMPP, Visual Studio Code,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GoogleChorme</a:t>
            </a:r>
            <a:endParaRPr lang="en-US" sz="2750" dirty="0" err="1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4196550" y="2600130"/>
            <a:ext cx="7315200" cy="1409839"/>
          </a:xfrm>
          <a:custGeom>
            <a:avLst/>
            <a:gdLst/>
            <a:ahLst/>
            <a:cxnLst/>
            <a:rect l="l" t="t" r="r" b="b"/>
            <a:pathLst>
              <a:path w="7315200" h="1409839">
                <a:moveTo>
                  <a:pt x="0" y="0"/>
                </a:moveTo>
                <a:lnTo>
                  <a:pt x="7315200" y="0"/>
                </a:lnTo>
                <a:lnTo>
                  <a:pt x="7315200" y="1409839"/>
                </a:lnTo>
                <a:lnTo>
                  <a:pt x="0" y="1409839"/>
                </a:lnTo>
                <a:lnTo>
                  <a:pt x="0" y="0"/>
                </a:lnTo>
                <a:close/>
              </a:path>
            </a:pathLst>
          </a:custGeom>
          <a:solidFill>
            <a:srgbClr val="ED7D31"/>
          </a:solidFill>
        </p:spPr>
      </p:sp>
      <p:sp>
        <p:nvSpPr>
          <p:cNvPr id="10" name="TextBox 10"/>
          <p:cNvSpPr txBox="1"/>
          <p:nvPr/>
        </p:nvSpPr>
        <p:spPr>
          <a:xfrm>
            <a:off x="5802770" y="2875980"/>
            <a:ext cx="4914903" cy="67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58"/>
              </a:lnSpc>
            </a:pPr>
            <a:r>
              <a:rPr lang="en-US" sz="4821" b="1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Giới Thiệu Đề Tài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168815" y="2927354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488243"/>
            <a:ext cx="4670423" cy="3524046"/>
          </a:xfrm>
          <a:custGeom>
            <a:avLst/>
            <a:gdLst/>
            <a:ahLst/>
            <a:cxnLst/>
            <a:rect l="l" t="t" r="r" b="b"/>
            <a:pathLst>
              <a:path w="4670423" h="3524046">
                <a:moveTo>
                  <a:pt x="0" y="0"/>
                </a:moveTo>
                <a:lnTo>
                  <a:pt x="4670423" y="0"/>
                </a:lnTo>
                <a:lnTo>
                  <a:pt x="4670423" y="3524047"/>
                </a:lnTo>
                <a:lnTo>
                  <a:pt x="0" y="352404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</p:sp>
      <p:sp>
        <p:nvSpPr>
          <p:cNvPr id="7" name="Freeform 7"/>
          <p:cNvSpPr/>
          <p:nvPr/>
        </p:nvSpPr>
        <p:spPr>
          <a:xfrm flipH="1" flipV="1">
            <a:off x="13947662" y="7300977"/>
            <a:ext cx="4521303" cy="3411529"/>
          </a:xfrm>
          <a:custGeom>
            <a:avLst/>
            <a:gdLst/>
            <a:ahLst/>
            <a:cxnLst/>
            <a:rect l="l" t="t" r="r" b="b"/>
            <a:pathLst>
              <a:path w="4521303" h="3411529">
                <a:moveTo>
                  <a:pt x="4521303" y="3411529"/>
                </a:moveTo>
                <a:lnTo>
                  <a:pt x="0" y="3411529"/>
                </a:lnTo>
                <a:lnTo>
                  <a:pt x="0" y="0"/>
                </a:lnTo>
                <a:lnTo>
                  <a:pt x="4521303" y="0"/>
                </a:lnTo>
                <a:lnTo>
                  <a:pt x="4521303" y="3411529"/>
                </a:lnTo>
                <a:close/>
              </a:path>
            </a:pathLst>
          </a:custGeom>
          <a:solidFill>
            <a:schemeClr val="accent6"/>
          </a:solidFill>
        </p:spPr>
      </p:sp>
      <p:sp>
        <p:nvSpPr>
          <p:cNvPr id="8" name="Freeform 8"/>
          <p:cNvSpPr/>
          <p:nvPr/>
        </p:nvSpPr>
        <p:spPr>
          <a:xfrm>
            <a:off x="2715596" y="3455937"/>
            <a:ext cx="12878361" cy="2482011"/>
          </a:xfrm>
          <a:custGeom>
            <a:avLst/>
            <a:gdLst/>
            <a:ahLst/>
            <a:cxnLst/>
            <a:rect l="l" t="t" r="r" b="b"/>
            <a:pathLst>
              <a:path w="12878361" h="2482011">
                <a:moveTo>
                  <a:pt x="0" y="0"/>
                </a:moveTo>
                <a:lnTo>
                  <a:pt x="12878361" y="0"/>
                </a:lnTo>
                <a:lnTo>
                  <a:pt x="12878361" y="2482012"/>
                </a:lnTo>
                <a:lnTo>
                  <a:pt x="0" y="2482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972210" y="2110990"/>
            <a:ext cx="4914903" cy="636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00"/>
              </a:lnSpc>
            </a:pPr>
            <a:r>
              <a:rPr lang="en-US" sz="4485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Lý Do Chọn Đề Tài</a:t>
            </a:r>
          </a:p>
        </p:txBody>
      </p:sp>
      <p:sp>
        <p:nvSpPr>
          <p:cNvPr id="10" name="Freeform 10"/>
          <p:cNvSpPr/>
          <p:nvPr/>
        </p:nvSpPr>
        <p:spPr>
          <a:xfrm>
            <a:off x="2694043" y="6238477"/>
            <a:ext cx="12878361" cy="2482011"/>
          </a:xfrm>
          <a:custGeom>
            <a:avLst/>
            <a:gdLst/>
            <a:ahLst/>
            <a:cxnLst/>
            <a:rect l="l" t="t" r="r" b="b"/>
            <a:pathLst>
              <a:path w="12878361" h="2482011">
                <a:moveTo>
                  <a:pt x="0" y="0"/>
                </a:moveTo>
                <a:lnTo>
                  <a:pt x="12878361" y="0"/>
                </a:lnTo>
                <a:lnTo>
                  <a:pt x="12878361" y="2482011"/>
                </a:lnTo>
                <a:lnTo>
                  <a:pt x="0" y="2482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429661" y="3725202"/>
            <a:ext cx="9894900" cy="16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66"/>
              </a:lnSpc>
            </a:pP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Nhu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cầu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chăm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sóc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sức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khỏe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ngày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càng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tăng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. Website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giúp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người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dùng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dễ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dàng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theo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dõi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tình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trạng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sức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khỏe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,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nhận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tư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vấn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nhanh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chóng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và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nâng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cao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ý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thức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bảo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vệ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sức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khỏe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cá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nhân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.</a:t>
            </a:r>
            <a:endParaRPr lang="vi-VN" dirty="0">
              <a:ea typeface="+mn-lt"/>
              <a:cs typeface="+mn-l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429661" y="6507742"/>
            <a:ext cx="9894900" cy="1105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66"/>
              </a:lnSpc>
            </a:pP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Đồng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thời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,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đề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tài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cũng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giúp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vận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dụng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kiến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thức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về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thiết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kế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và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phát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triển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website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vào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thực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tế</a:t>
            </a:r>
            <a:r>
              <a:rPr lang="en-US" sz="29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.</a:t>
            </a:r>
            <a:endParaRPr lang="vi-VN" dirty="0">
              <a:ea typeface="+mn-lt"/>
              <a:cs typeface="+mn-l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197075" y="3505613"/>
            <a:ext cx="1056248" cy="1237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282"/>
              </a:lnSpc>
            </a:pPr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3197333" y="6432394"/>
            <a:ext cx="1055989" cy="1236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279"/>
              </a:lnSpc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168815" y="2927354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488243"/>
            <a:ext cx="4670423" cy="3524046"/>
          </a:xfrm>
          <a:custGeom>
            <a:avLst/>
            <a:gdLst/>
            <a:ahLst/>
            <a:cxnLst/>
            <a:rect l="l" t="t" r="r" b="b"/>
            <a:pathLst>
              <a:path w="4670423" h="3524046">
                <a:moveTo>
                  <a:pt x="0" y="0"/>
                </a:moveTo>
                <a:lnTo>
                  <a:pt x="4670423" y="0"/>
                </a:lnTo>
                <a:lnTo>
                  <a:pt x="4670423" y="3524047"/>
                </a:lnTo>
                <a:lnTo>
                  <a:pt x="0" y="352404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</p:sp>
      <p:sp>
        <p:nvSpPr>
          <p:cNvPr id="7" name="Freeform 7"/>
          <p:cNvSpPr/>
          <p:nvPr/>
        </p:nvSpPr>
        <p:spPr>
          <a:xfrm flipH="1" flipV="1">
            <a:off x="13947662" y="7300977"/>
            <a:ext cx="4521303" cy="3411529"/>
          </a:xfrm>
          <a:custGeom>
            <a:avLst/>
            <a:gdLst/>
            <a:ahLst/>
            <a:cxnLst/>
            <a:rect l="l" t="t" r="r" b="b"/>
            <a:pathLst>
              <a:path w="4521303" h="3411529">
                <a:moveTo>
                  <a:pt x="4521303" y="3411529"/>
                </a:moveTo>
                <a:lnTo>
                  <a:pt x="0" y="3411529"/>
                </a:lnTo>
                <a:lnTo>
                  <a:pt x="0" y="0"/>
                </a:lnTo>
                <a:lnTo>
                  <a:pt x="4521303" y="0"/>
                </a:lnTo>
                <a:lnTo>
                  <a:pt x="4521303" y="3411529"/>
                </a:lnTo>
                <a:close/>
              </a:path>
            </a:pathLst>
          </a:custGeom>
          <a:solidFill>
            <a:schemeClr val="accent6"/>
          </a:solidFill>
        </p:spPr>
      </p:sp>
      <p:sp>
        <p:nvSpPr>
          <p:cNvPr id="8" name="Freeform 8"/>
          <p:cNvSpPr/>
          <p:nvPr/>
        </p:nvSpPr>
        <p:spPr>
          <a:xfrm>
            <a:off x="2715596" y="3455937"/>
            <a:ext cx="12878361" cy="2482011"/>
          </a:xfrm>
          <a:custGeom>
            <a:avLst/>
            <a:gdLst/>
            <a:ahLst/>
            <a:cxnLst/>
            <a:rect l="l" t="t" r="r" b="b"/>
            <a:pathLst>
              <a:path w="12878361" h="2482011">
                <a:moveTo>
                  <a:pt x="0" y="0"/>
                </a:moveTo>
                <a:lnTo>
                  <a:pt x="12878361" y="0"/>
                </a:lnTo>
                <a:lnTo>
                  <a:pt x="12878361" y="2482012"/>
                </a:lnTo>
                <a:lnTo>
                  <a:pt x="0" y="2482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972210" y="2110990"/>
            <a:ext cx="5210480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83"/>
              </a:lnSpc>
            </a:pPr>
            <a:r>
              <a:rPr lang="en-US" sz="3816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Mục Tiêu Nghiên </a:t>
            </a:r>
            <a:r>
              <a:rPr lang="en-US" sz="3816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Cứu</a:t>
            </a:r>
            <a:endParaRPr lang="en-US" sz="3816" b="1" dirty="0">
              <a:solidFill>
                <a:srgbClr val="000000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2694043" y="6238477"/>
            <a:ext cx="12878361" cy="2482011"/>
          </a:xfrm>
          <a:custGeom>
            <a:avLst/>
            <a:gdLst/>
            <a:ahLst/>
            <a:cxnLst/>
            <a:rect l="l" t="t" r="r" b="b"/>
            <a:pathLst>
              <a:path w="12878361" h="2482011">
                <a:moveTo>
                  <a:pt x="0" y="0"/>
                </a:moveTo>
                <a:lnTo>
                  <a:pt x="12878361" y="0"/>
                </a:lnTo>
                <a:lnTo>
                  <a:pt x="12878361" y="2482011"/>
                </a:lnTo>
                <a:lnTo>
                  <a:pt x="0" y="2482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429661" y="3782352"/>
            <a:ext cx="9894900" cy="1486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40"/>
              </a:lnSpc>
            </a:pP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Mục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tiêu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nghiên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cứu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của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đề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tài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là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xây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dựng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một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website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hỗ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trợ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tư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vấn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và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theo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dõi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sức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khỏe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cá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nhân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,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giúp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người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dùng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quản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lý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thông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tin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sức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khỏe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thuận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tiện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và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hiệu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quả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hơn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.</a:t>
            </a:r>
            <a:endParaRPr lang="vi-VN" sz="2600" dirty="0">
              <a:ea typeface="+mn-lt"/>
              <a:cs typeface="+mn-l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429661" y="6507742"/>
            <a:ext cx="9894900" cy="983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40"/>
              </a:lnSpc>
            </a:pP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Đồng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thời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,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hệ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thống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cung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cấp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chức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năng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theo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dõi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các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chỉ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số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sức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khỏe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,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hỗ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trợ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tư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vấn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cơ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bản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và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nâng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cao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trải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nghiệm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người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dùng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trên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nền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tảng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web.</a:t>
            </a:r>
            <a:endParaRPr lang="vi-VN" sz="2600" dirty="0">
              <a:ea typeface="+mn-lt"/>
              <a:cs typeface="+mn-l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197075" y="3267488"/>
            <a:ext cx="1056248" cy="1771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084"/>
              </a:lnSpc>
            </a:pPr>
            <a:r>
              <a:rPr lang="en-US" sz="6433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1.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97333" y="6194269"/>
            <a:ext cx="1055989" cy="1771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080"/>
              </a:lnSpc>
            </a:pPr>
            <a:r>
              <a:rPr lang="en-US" sz="6432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35380"/>
            <a:ext cx="4670423" cy="3524046"/>
          </a:xfrm>
          <a:custGeom>
            <a:avLst/>
            <a:gdLst/>
            <a:ahLst/>
            <a:cxnLst/>
            <a:rect l="l" t="t" r="r" b="b"/>
            <a:pathLst>
              <a:path w="4670423" h="3524046">
                <a:moveTo>
                  <a:pt x="0" y="0"/>
                </a:moveTo>
                <a:lnTo>
                  <a:pt x="4670423" y="0"/>
                </a:lnTo>
                <a:lnTo>
                  <a:pt x="4670423" y="3524046"/>
                </a:lnTo>
                <a:lnTo>
                  <a:pt x="0" y="352404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</p:sp>
      <p:sp>
        <p:nvSpPr>
          <p:cNvPr id="3" name="Freeform 3"/>
          <p:cNvSpPr/>
          <p:nvPr/>
        </p:nvSpPr>
        <p:spPr>
          <a:xfrm flipV="1">
            <a:off x="11459507" y="-90484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011028" y="7244296"/>
            <a:ext cx="4521303" cy="3411529"/>
          </a:xfrm>
          <a:custGeom>
            <a:avLst/>
            <a:gdLst/>
            <a:ahLst/>
            <a:cxnLst/>
            <a:rect l="l" t="t" r="r" b="b"/>
            <a:pathLst>
              <a:path w="4521303" h="3411529">
                <a:moveTo>
                  <a:pt x="4521303" y="3411528"/>
                </a:moveTo>
                <a:lnTo>
                  <a:pt x="0" y="3411528"/>
                </a:lnTo>
                <a:lnTo>
                  <a:pt x="0" y="0"/>
                </a:lnTo>
                <a:lnTo>
                  <a:pt x="4521303" y="0"/>
                </a:lnTo>
                <a:lnTo>
                  <a:pt x="4521303" y="3411528"/>
                </a:lnTo>
                <a:close/>
              </a:path>
            </a:pathLst>
          </a:custGeom>
          <a:solidFill>
            <a:schemeClr val="accent6"/>
          </a:solidFill>
        </p:spPr>
      </p:sp>
      <p:sp>
        <p:nvSpPr>
          <p:cNvPr id="5" name="TextBox 5"/>
          <p:cNvSpPr txBox="1"/>
          <p:nvPr/>
        </p:nvSpPr>
        <p:spPr>
          <a:xfrm>
            <a:off x="4800600" y="1046562"/>
            <a:ext cx="8861884" cy="972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484"/>
              </a:lnSpc>
            </a:pPr>
            <a:r>
              <a:rPr lang="en-US" sz="6995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Công Nghệ </a:t>
            </a:r>
            <a:r>
              <a:rPr lang="en-US" sz="6995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Sử</a:t>
            </a:r>
            <a:r>
              <a:rPr lang="en-US" sz="6995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6995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Dụng</a:t>
            </a:r>
            <a:endParaRPr lang="en-US" sz="6995" b="1" dirty="0">
              <a:solidFill>
                <a:srgbClr val="000000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6" name="Freeform 6"/>
          <p:cNvSpPr/>
          <p:nvPr/>
        </p:nvSpPr>
        <p:spPr>
          <a:xfrm flipH="1">
            <a:off x="4206502" y="2518301"/>
            <a:ext cx="4657591" cy="6431760"/>
          </a:xfrm>
          <a:custGeom>
            <a:avLst/>
            <a:gdLst/>
            <a:ahLst/>
            <a:cxnLst/>
            <a:rect l="l" t="t" r="r" b="b"/>
            <a:pathLst>
              <a:path w="4657591" h="6431760">
                <a:moveTo>
                  <a:pt x="4657591" y="0"/>
                </a:moveTo>
                <a:lnTo>
                  <a:pt x="0" y="0"/>
                </a:lnTo>
                <a:lnTo>
                  <a:pt x="0" y="6431759"/>
                </a:lnTo>
                <a:lnTo>
                  <a:pt x="4657591" y="6431759"/>
                </a:lnTo>
                <a:lnTo>
                  <a:pt x="4657591" y="0"/>
                </a:lnTo>
                <a:close/>
              </a:path>
            </a:pathLst>
          </a:custGeom>
          <a:solidFill>
            <a:schemeClr val="bg2"/>
          </a:solidFill>
        </p:spPr>
      </p:sp>
      <p:sp>
        <p:nvSpPr>
          <p:cNvPr id="7" name="TextBox 7"/>
          <p:cNvSpPr txBox="1"/>
          <p:nvPr/>
        </p:nvSpPr>
        <p:spPr>
          <a:xfrm>
            <a:off x="5751986" y="2679091"/>
            <a:ext cx="3125648" cy="90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137"/>
              </a:lnSpc>
            </a:pPr>
            <a:r>
              <a:rPr lang="en-US" sz="325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Google </a:t>
            </a:r>
            <a:r>
              <a:rPr lang="en-US" sz="3250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Chorme</a:t>
            </a:r>
            <a:endParaRPr lang="en-US" sz="3255" b="1" dirty="0" err="1">
              <a:solidFill>
                <a:srgbClr val="000000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751986" y="4307851"/>
            <a:ext cx="3125648" cy="90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137"/>
              </a:lnSpc>
            </a:pPr>
            <a:r>
              <a:rPr lang="en-US" sz="3250" b="1">
                <a:solidFill>
                  <a:srgbClr val="000000"/>
                </a:solidFill>
                <a:latin typeface="Aileron Bold"/>
                <a:ea typeface="Aileron Bold"/>
                <a:cs typeface="Aileron Bold"/>
              </a:rPr>
              <a:t>VSC</a:t>
            </a:r>
            <a:endParaRPr lang="en-US" sz="3255" b="1">
              <a:solidFill>
                <a:srgbClr val="000000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670757" y="2257106"/>
            <a:ext cx="810226" cy="136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2338"/>
              </a:lnSpc>
            </a:pPr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4734836" y="3919603"/>
            <a:ext cx="810226" cy="136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2338"/>
              </a:lnSpc>
            </a:pPr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734836" y="5582461"/>
            <a:ext cx="810226" cy="136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2338"/>
              </a:lnSpc>
            </a:pPr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4734836" y="7245319"/>
            <a:ext cx="810226" cy="136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2338"/>
              </a:lnSpc>
            </a:pPr>
            <a:endParaRPr/>
          </a:p>
        </p:txBody>
      </p:sp>
      <p:sp>
        <p:nvSpPr>
          <p:cNvPr id="15" name="Freeform 15"/>
          <p:cNvSpPr/>
          <p:nvPr/>
        </p:nvSpPr>
        <p:spPr>
          <a:xfrm flipH="1">
            <a:off x="9082721" y="2518301"/>
            <a:ext cx="4657591" cy="6431760"/>
          </a:xfrm>
          <a:custGeom>
            <a:avLst/>
            <a:gdLst/>
            <a:ahLst/>
            <a:cxnLst/>
            <a:rect l="l" t="t" r="r" b="b"/>
            <a:pathLst>
              <a:path w="4657591" h="6431760">
                <a:moveTo>
                  <a:pt x="4657591" y="0"/>
                </a:moveTo>
                <a:lnTo>
                  <a:pt x="0" y="0"/>
                </a:lnTo>
                <a:lnTo>
                  <a:pt x="0" y="6431759"/>
                </a:lnTo>
                <a:lnTo>
                  <a:pt x="4657591" y="6431759"/>
                </a:lnTo>
                <a:lnTo>
                  <a:pt x="4657591" y="0"/>
                </a:lnTo>
                <a:close/>
              </a:path>
            </a:pathLst>
          </a:custGeom>
          <a:solidFill>
            <a:schemeClr val="bg2"/>
          </a:solidFill>
        </p:spPr>
      </p:sp>
      <p:sp>
        <p:nvSpPr>
          <p:cNvPr id="16" name="TextBox 16"/>
          <p:cNvSpPr txBox="1"/>
          <p:nvPr/>
        </p:nvSpPr>
        <p:spPr>
          <a:xfrm>
            <a:off x="10885380" y="2679091"/>
            <a:ext cx="3125648" cy="90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137"/>
              </a:lnSpc>
            </a:pPr>
            <a:r>
              <a:rPr lang="en-US" sz="3255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XAMPP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885380" y="4307851"/>
            <a:ext cx="3125648" cy="90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137"/>
              </a:lnSpc>
            </a:pPr>
            <a:r>
              <a:rPr lang="en-US" sz="3255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MySQL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04151" y="2257106"/>
            <a:ext cx="810226" cy="136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2338"/>
              </a:lnSpc>
            </a:pP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9868231" y="3919603"/>
            <a:ext cx="810226" cy="136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2338"/>
              </a:lnSpc>
            </a:pP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9868231" y="5582461"/>
            <a:ext cx="810226" cy="136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2338"/>
              </a:lnSpc>
            </a:pP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9868231" y="7245319"/>
            <a:ext cx="810226" cy="136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2338"/>
              </a:lnSpc>
            </a:pPr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13169859" y="5618309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flipH="1">
            <a:off x="-2092740" y="2518301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2" y="3396584"/>
                </a:lnTo>
                <a:lnTo>
                  <a:pt x="51181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168815" y="2927354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488243"/>
            <a:ext cx="4670423" cy="3524046"/>
          </a:xfrm>
          <a:custGeom>
            <a:avLst/>
            <a:gdLst/>
            <a:ahLst/>
            <a:cxnLst/>
            <a:rect l="l" t="t" r="r" b="b"/>
            <a:pathLst>
              <a:path w="4670423" h="3524046">
                <a:moveTo>
                  <a:pt x="0" y="0"/>
                </a:moveTo>
                <a:lnTo>
                  <a:pt x="4670423" y="0"/>
                </a:lnTo>
                <a:lnTo>
                  <a:pt x="4670423" y="3524047"/>
                </a:lnTo>
                <a:lnTo>
                  <a:pt x="0" y="352404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</p:sp>
      <p:sp>
        <p:nvSpPr>
          <p:cNvPr id="7" name="Freeform 7"/>
          <p:cNvSpPr/>
          <p:nvPr/>
        </p:nvSpPr>
        <p:spPr>
          <a:xfrm flipH="1" flipV="1">
            <a:off x="13947662" y="7300977"/>
            <a:ext cx="4521303" cy="3411529"/>
          </a:xfrm>
          <a:custGeom>
            <a:avLst/>
            <a:gdLst/>
            <a:ahLst/>
            <a:cxnLst/>
            <a:rect l="l" t="t" r="r" b="b"/>
            <a:pathLst>
              <a:path w="4521303" h="3411529">
                <a:moveTo>
                  <a:pt x="4521303" y="3411529"/>
                </a:moveTo>
                <a:lnTo>
                  <a:pt x="0" y="3411529"/>
                </a:lnTo>
                <a:lnTo>
                  <a:pt x="0" y="0"/>
                </a:lnTo>
                <a:lnTo>
                  <a:pt x="4521303" y="0"/>
                </a:lnTo>
                <a:lnTo>
                  <a:pt x="4521303" y="3411529"/>
                </a:lnTo>
                <a:close/>
              </a:path>
            </a:pathLst>
          </a:custGeom>
          <a:solidFill>
            <a:schemeClr val="accent6"/>
          </a:solidFill>
        </p:spPr>
      </p:sp>
      <p:sp>
        <p:nvSpPr>
          <p:cNvPr id="8" name="Freeform 8"/>
          <p:cNvSpPr/>
          <p:nvPr/>
        </p:nvSpPr>
        <p:spPr>
          <a:xfrm>
            <a:off x="2715596" y="3455937"/>
            <a:ext cx="12878361" cy="2482011"/>
          </a:xfrm>
          <a:custGeom>
            <a:avLst/>
            <a:gdLst/>
            <a:ahLst/>
            <a:cxnLst/>
            <a:rect l="l" t="t" r="r" b="b"/>
            <a:pathLst>
              <a:path w="12878361" h="2482011">
                <a:moveTo>
                  <a:pt x="0" y="0"/>
                </a:moveTo>
                <a:lnTo>
                  <a:pt x="12878361" y="0"/>
                </a:lnTo>
                <a:lnTo>
                  <a:pt x="12878361" y="2482012"/>
                </a:lnTo>
                <a:lnTo>
                  <a:pt x="0" y="2482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972210" y="2110990"/>
            <a:ext cx="4914903" cy="561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98"/>
              </a:lnSpc>
            </a:pPr>
            <a:r>
              <a:rPr lang="en-US" sz="4017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Phân Tích Hệ Thống</a:t>
            </a:r>
          </a:p>
        </p:txBody>
      </p:sp>
      <p:sp>
        <p:nvSpPr>
          <p:cNvPr id="10" name="Freeform 10"/>
          <p:cNvSpPr/>
          <p:nvPr/>
        </p:nvSpPr>
        <p:spPr>
          <a:xfrm>
            <a:off x="2694043" y="6238477"/>
            <a:ext cx="12878361" cy="2482011"/>
          </a:xfrm>
          <a:custGeom>
            <a:avLst/>
            <a:gdLst/>
            <a:ahLst/>
            <a:cxnLst/>
            <a:rect l="l" t="t" r="r" b="b"/>
            <a:pathLst>
              <a:path w="12878361" h="2482011">
                <a:moveTo>
                  <a:pt x="0" y="0"/>
                </a:moveTo>
                <a:lnTo>
                  <a:pt x="12878361" y="0"/>
                </a:lnTo>
                <a:lnTo>
                  <a:pt x="12878361" y="2482011"/>
                </a:lnTo>
                <a:lnTo>
                  <a:pt x="0" y="2482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429661" y="3734727"/>
            <a:ext cx="9894900" cy="1842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21"/>
              </a:lnSpc>
            </a:pPr>
            <a:r>
              <a:rPr lang="en-US" sz="2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Đối </a:t>
            </a:r>
            <a:r>
              <a:rPr lang="en-US" sz="200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tượng</a:t>
            </a:r>
            <a:r>
              <a:rPr lang="en-US" sz="2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người</a:t>
            </a:r>
            <a:r>
              <a:rPr lang="en-US" sz="2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dùng</a:t>
            </a:r>
            <a:r>
              <a:rPr lang="en-US" sz="2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</a:t>
            </a:r>
            <a:endParaRPr lang="en-US" sz="2000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</a:endParaRPr>
          </a:p>
          <a:p>
            <a:pPr>
              <a:lnSpc>
                <a:spcPts val="3721"/>
              </a:lnSpc>
            </a:pPr>
            <a:r>
              <a:rPr lang="en-US" sz="2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 Khách </a:t>
            </a:r>
            <a:r>
              <a:rPr lang="en-US" sz="200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hàng</a:t>
            </a:r>
            <a:r>
              <a:rPr lang="en-US" sz="2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học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sinh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sinh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viên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nhân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viên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văn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phòng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người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lớn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tuổi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và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những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người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quan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tâm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đến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việc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quản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lý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sức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khỏe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hằng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ngày</a:t>
            </a:r>
            <a:endParaRPr lang="en-US" sz="2000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</a:endParaRPr>
          </a:p>
          <a:p>
            <a:pPr>
              <a:lnSpc>
                <a:spcPts val="3721"/>
              </a:lnSpc>
            </a:pPr>
            <a:r>
              <a:rPr lang="en-US" sz="2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 Admin: Quản </a:t>
            </a:r>
            <a:r>
              <a:rPr lang="en-US" sz="200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lý</a:t>
            </a:r>
            <a:r>
              <a:rPr lang="en-US" sz="2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web </a:t>
            </a:r>
            <a:r>
              <a:rPr lang="en-US" sz="200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và</a:t>
            </a:r>
            <a:r>
              <a:rPr lang="en-US" sz="2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theo</a:t>
            </a:r>
            <a:r>
              <a:rPr lang="en-US" sz="2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dõi</a:t>
            </a:r>
            <a:r>
              <a:rPr lang="en-US" sz="2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 </a:t>
            </a:r>
            <a:r>
              <a:rPr lang="en-US" sz="200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hoạt</a:t>
            </a:r>
            <a:r>
              <a:rPr lang="en-US" sz="2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động</a:t>
            </a:r>
            <a:endParaRPr lang="en-US" sz="2000" b="1">
              <a:solidFill>
                <a:srgbClr val="FFFFFF"/>
              </a:solidFill>
              <a:latin typeface="Montserrat Bold"/>
              <a:ea typeface="Montserrat Bold"/>
              <a:cs typeface="Arial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429661" y="6517267"/>
            <a:ext cx="9894900" cy="212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21"/>
              </a:lnSpc>
            </a:pPr>
            <a:r>
              <a:rPr lang="en-US" sz="2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Chức </a:t>
            </a:r>
            <a:r>
              <a:rPr lang="en-US" sz="200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năng</a:t>
            </a:r>
            <a:r>
              <a:rPr lang="en-US" sz="2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chính</a:t>
            </a:r>
            <a:r>
              <a:rPr lang="en-US" sz="2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</a:t>
            </a:r>
            <a:endParaRPr lang="en-US" sz="2000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Đăng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ký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đăng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nhập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tài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khoản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người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dùng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endParaRPr lang="en-US" sz="2000">
              <a:latin typeface="Montserrat Bold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Quản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lý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thông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tin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cá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nhân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endParaRPr lang="en-US" sz="2000">
              <a:latin typeface="Montserrat Bold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Theo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dõi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các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chỉ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số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sức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khỏe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(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cân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nặng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huyết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áp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nhịp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tim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,...) </a:t>
            </a:r>
            <a:endParaRPr lang="en-US" sz="2000">
              <a:latin typeface="Montserrat Bold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Tư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vấn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và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cung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cấp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kiến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thức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sức</a:t>
            </a:r>
            <a:r>
              <a:rPr lang="en-US" sz="2000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khỏe</a:t>
            </a:r>
            <a:endParaRPr lang="en-US" sz="2000">
              <a:latin typeface="Montserrat Bold"/>
            </a:endParaRPr>
          </a:p>
          <a:p>
            <a:pPr marL="0" lvl="0" indent="0" algn="l">
              <a:lnSpc>
                <a:spcPts val="3721"/>
              </a:lnSpc>
            </a:pPr>
            <a:endParaRPr lang="en-US" sz="2000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197075" y="3562763"/>
            <a:ext cx="1056248" cy="1112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0102"/>
              </a:lnSpc>
            </a:pPr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3197333" y="6489544"/>
            <a:ext cx="1055989" cy="1112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0100"/>
              </a:lnSpc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168815" y="2927354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05262" y="-488243"/>
            <a:ext cx="5281132" cy="3984854"/>
          </a:xfrm>
          <a:custGeom>
            <a:avLst/>
            <a:gdLst/>
            <a:ahLst/>
            <a:cxnLst/>
            <a:rect l="l" t="t" r="r" b="b"/>
            <a:pathLst>
              <a:path w="5281132" h="3984854">
                <a:moveTo>
                  <a:pt x="0" y="0"/>
                </a:moveTo>
                <a:lnTo>
                  <a:pt x="5281132" y="0"/>
                </a:lnTo>
                <a:lnTo>
                  <a:pt x="5281132" y="3984854"/>
                </a:lnTo>
                <a:lnTo>
                  <a:pt x="0" y="398485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</p:sp>
      <p:sp>
        <p:nvSpPr>
          <p:cNvPr id="7" name="Freeform 7"/>
          <p:cNvSpPr/>
          <p:nvPr/>
        </p:nvSpPr>
        <p:spPr>
          <a:xfrm flipH="1" flipV="1">
            <a:off x="13409572" y="6838370"/>
            <a:ext cx="5171931" cy="3902457"/>
          </a:xfrm>
          <a:custGeom>
            <a:avLst/>
            <a:gdLst/>
            <a:ahLst/>
            <a:cxnLst/>
            <a:rect l="l" t="t" r="r" b="b"/>
            <a:pathLst>
              <a:path w="5171931" h="3902457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solidFill>
            <a:schemeClr val="accent6"/>
          </a:solidFill>
        </p:spPr>
      </p:sp>
      <p:sp>
        <p:nvSpPr>
          <p:cNvPr id="8" name="TextBox 8"/>
          <p:cNvSpPr txBox="1"/>
          <p:nvPr/>
        </p:nvSpPr>
        <p:spPr>
          <a:xfrm>
            <a:off x="4196550" y="4443287"/>
            <a:ext cx="9894900" cy="210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</a:pP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Use Case: </a:t>
            </a:r>
            <a:r>
              <a:rPr lang="en-US" sz="270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Mô</a:t>
            </a: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0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tả</a:t>
            </a: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0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tương</a:t>
            </a: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0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tác</a:t>
            </a: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0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giữa</a:t>
            </a: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0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khách</a:t>
            </a: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0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hàng</a:t>
            </a: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0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và</a:t>
            </a: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0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hệ</a:t>
            </a: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0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thống</a:t>
            </a:r>
            <a:endParaRPr lang="en-US" sz="2700" dirty="0" err="1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ts val="4200"/>
              </a:lnSpc>
            </a:pPr>
            <a:endParaRPr lang="en-US" sz="2700" dirty="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  <a:p>
            <a:pPr>
              <a:lnSpc>
                <a:spcPts val="4200"/>
              </a:lnSpc>
            </a:pPr>
            <a:r>
              <a:rPr lang="en-US" sz="27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Giao </a:t>
            </a:r>
            <a:r>
              <a:rPr lang="en-US" sz="27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diện</a:t>
            </a:r>
            <a:r>
              <a:rPr lang="en-US" sz="27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Trang </a:t>
            </a:r>
            <a:r>
              <a:rPr lang="en-US" sz="27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chủ</a:t>
            </a:r>
            <a:r>
              <a:rPr lang="en-US" sz="27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đăng</a:t>
            </a:r>
            <a:r>
              <a:rPr lang="en-US" sz="27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ký</a:t>
            </a:r>
            <a:r>
              <a:rPr lang="en-US" sz="27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- Trang </a:t>
            </a:r>
            <a:r>
              <a:rPr lang="en-US" sz="27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chủ</a:t>
            </a:r>
            <a:r>
              <a:rPr lang="en-US" sz="27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đăng</a:t>
            </a:r>
            <a:r>
              <a:rPr lang="en-US" sz="27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nhập</a:t>
            </a:r>
            <a:r>
              <a:rPr lang="en-US" sz="27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- Trang </a:t>
            </a:r>
            <a:r>
              <a:rPr lang="en-US" sz="27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chủ</a:t>
            </a:r>
            <a:r>
              <a:rPr lang="en-US" sz="27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 </a:t>
            </a:r>
            <a:r>
              <a:rPr lang="en-US" sz="27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số</a:t>
            </a:r>
            <a:r>
              <a:rPr lang="en-US" sz="27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liệu</a:t>
            </a:r>
            <a:r>
              <a:rPr lang="en-US" sz="27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- Trang </a:t>
            </a:r>
            <a:r>
              <a:rPr lang="en-US" sz="27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tư</a:t>
            </a:r>
            <a:r>
              <a:rPr lang="en-US" sz="27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vấn</a:t>
            </a:r>
            <a:endParaRPr lang="en-US" sz="2700" dirty="0" err="1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4196550" y="2600130"/>
            <a:ext cx="7315200" cy="1409839"/>
          </a:xfrm>
          <a:custGeom>
            <a:avLst/>
            <a:gdLst/>
            <a:ahLst/>
            <a:cxnLst/>
            <a:rect l="l" t="t" r="r" b="b"/>
            <a:pathLst>
              <a:path w="7315200" h="1409839">
                <a:moveTo>
                  <a:pt x="0" y="0"/>
                </a:moveTo>
                <a:lnTo>
                  <a:pt x="7315200" y="0"/>
                </a:lnTo>
                <a:lnTo>
                  <a:pt x="7315200" y="1409839"/>
                </a:lnTo>
                <a:lnTo>
                  <a:pt x="0" y="1409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802770" y="2875980"/>
            <a:ext cx="5500573" cy="690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66"/>
              </a:lnSpc>
            </a:pPr>
            <a:r>
              <a:rPr lang="en-US" sz="4921" b="1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Thiết Kế Hệ Thống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11278" y="4982792"/>
            <a:ext cx="4216232" cy="2798045"/>
          </a:xfrm>
          <a:custGeom>
            <a:avLst/>
            <a:gdLst/>
            <a:ahLst/>
            <a:cxnLst/>
            <a:rect l="l" t="t" r="r" b="b"/>
            <a:pathLst>
              <a:path w="4216232" h="2798045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540716" y="2311677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5789" y="-488243"/>
            <a:ext cx="5381659" cy="4060706"/>
          </a:xfrm>
          <a:custGeom>
            <a:avLst/>
            <a:gdLst/>
            <a:ahLst/>
            <a:cxnLst/>
            <a:rect l="l" t="t" r="r" b="b"/>
            <a:pathLst>
              <a:path w="5381659" h="4060706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</p:sp>
      <p:sp>
        <p:nvSpPr>
          <p:cNvPr id="7" name="Freeform 7"/>
          <p:cNvSpPr/>
          <p:nvPr/>
        </p:nvSpPr>
        <p:spPr>
          <a:xfrm flipH="1" flipV="1">
            <a:off x="13031403" y="6736988"/>
            <a:ext cx="5581585" cy="4211560"/>
          </a:xfrm>
          <a:custGeom>
            <a:avLst/>
            <a:gdLst/>
            <a:ahLst/>
            <a:cxnLst/>
            <a:rect l="l" t="t" r="r" b="b"/>
            <a:pathLst>
              <a:path w="5581585" h="4211560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solidFill>
            <a:schemeClr val="accent6"/>
          </a:solidFill>
        </p:spPr>
      </p:sp>
      <p:sp>
        <p:nvSpPr>
          <p:cNvPr id="8" name="TextBox 8"/>
          <p:cNvSpPr txBox="1"/>
          <p:nvPr/>
        </p:nvSpPr>
        <p:spPr>
          <a:xfrm>
            <a:off x="4196550" y="4452812"/>
            <a:ext cx="9894900" cy="2706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06"/>
              </a:lnSpc>
            </a:pP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Môi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trường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XAMPP (VSC, MySQL, PHP)</a:t>
            </a:r>
          </a:p>
          <a:p>
            <a:pPr marL="0" lvl="0" indent="0" algn="l">
              <a:lnSpc>
                <a:spcPts val="4306"/>
              </a:lnSpc>
            </a:pP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Công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cụ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WordPress </a:t>
            </a:r>
            <a:endParaRPr lang="en-US" sz="2750" dirty="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ts val="4306"/>
              </a:lnSpc>
            </a:pP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Giao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diện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thân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thiện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tương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thích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đa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thiết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bị</a:t>
            </a:r>
            <a:endParaRPr lang="en-US" sz="2750" dirty="0" err="1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  <a:p>
            <a:pPr>
              <a:lnSpc>
                <a:spcPts val="4306"/>
              </a:lnSpc>
            </a:pP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Bộ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lọc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sản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phẩm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 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hoạt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động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mượt</a:t>
            </a:r>
            <a:r>
              <a:rPr lang="en-US" sz="27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mà</a:t>
            </a:r>
            <a:endParaRPr lang="en-US" sz="2750" dirty="0" err="1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ts val="4306"/>
              </a:lnSpc>
            </a:pPr>
            <a:endParaRPr lang="en-US" sz="2750" dirty="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4196550" y="2600130"/>
            <a:ext cx="7315200" cy="1409839"/>
          </a:xfrm>
          <a:custGeom>
            <a:avLst/>
            <a:gdLst/>
            <a:ahLst/>
            <a:cxnLst/>
            <a:rect l="l" t="t" r="r" b="b"/>
            <a:pathLst>
              <a:path w="7315200" h="1409839">
                <a:moveTo>
                  <a:pt x="0" y="0"/>
                </a:moveTo>
                <a:lnTo>
                  <a:pt x="7315200" y="0"/>
                </a:lnTo>
                <a:lnTo>
                  <a:pt x="7315200" y="1409839"/>
                </a:lnTo>
                <a:lnTo>
                  <a:pt x="0" y="1409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727191" y="2866455"/>
            <a:ext cx="5245609" cy="582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441"/>
              </a:lnSpc>
            </a:pPr>
            <a:r>
              <a:rPr lang="en-US" sz="4150" b="1" dirty="0" err="1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Triển</a:t>
            </a:r>
            <a:r>
              <a:rPr lang="en-US" sz="4150" b="1" dirty="0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 Khai &amp; </a:t>
            </a:r>
            <a:r>
              <a:rPr lang="en-US" sz="4150" b="1" dirty="0" err="1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Kết</a:t>
            </a:r>
            <a:r>
              <a:rPr lang="en-US" sz="4150" b="1" dirty="0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4150" b="1" dirty="0" err="1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Quả</a:t>
            </a:r>
            <a:endParaRPr lang="en-US" sz="4150" b="1" dirty="0">
              <a:solidFill>
                <a:srgbClr val="FCFEFF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168815" y="2927354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488243"/>
            <a:ext cx="4670423" cy="3524046"/>
          </a:xfrm>
          <a:custGeom>
            <a:avLst/>
            <a:gdLst/>
            <a:ahLst/>
            <a:cxnLst/>
            <a:rect l="l" t="t" r="r" b="b"/>
            <a:pathLst>
              <a:path w="4670423" h="3524046">
                <a:moveTo>
                  <a:pt x="0" y="0"/>
                </a:moveTo>
                <a:lnTo>
                  <a:pt x="4670423" y="0"/>
                </a:lnTo>
                <a:lnTo>
                  <a:pt x="4670423" y="3524047"/>
                </a:lnTo>
                <a:lnTo>
                  <a:pt x="0" y="352404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</p:sp>
      <p:sp>
        <p:nvSpPr>
          <p:cNvPr id="7" name="Freeform 7"/>
          <p:cNvSpPr/>
          <p:nvPr/>
        </p:nvSpPr>
        <p:spPr>
          <a:xfrm flipH="1" flipV="1">
            <a:off x="13947662" y="7300977"/>
            <a:ext cx="4521303" cy="3411529"/>
          </a:xfrm>
          <a:custGeom>
            <a:avLst/>
            <a:gdLst/>
            <a:ahLst/>
            <a:cxnLst/>
            <a:rect l="l" t="t" r="r" b="b"/>
            <a:pathLst>
              <a:path w="4521303" h="3411529">
                <a:moveTo>
                  <a:pt x="4521303" y="3411529"/>
                </a:moveTo>
                <a:lnTo>
                  <a:pt x="0" y="3411529"/>
                </a:lnTo>
                <a:lnTo>
                  <a:pt x="0" y="0"/>
                </a:lnTo>
                <a:lnTo>
                  <a:pt x="4521303" y="0"/>
                </a:lnTo>
                <a:lnTo>
                  <a:pt x="4521303" y="3411529"/>
                </a:lnTo>
                <a:close/>
              </a:path>
            </a:pathLst>
          </a:custGeom>
          <a:solidFill>
            <a:schemeClr val="accent6"/>
          </a:solidFill>
        </p:spPr>
      </p:sp>
      <p:sp>
        <p:nvSpPr>
          <p:cNvPr id="8" name="Freeform 8"/>
          <p:cNvSpPr/>
          <p:nvPr/>
        </p:nvSpPr>
        <p:spPr>
          <a:xfrm>
            <a:off x="2715596" y="3455937"/>
            <a:ext cx="12878361" cy="2482011"/>
          </a:xfrm>
          <a:custGeom>
            <a:avLst/>
            <a:gdLst/>
            <a:ahLst/>
            <a:cxnLst/>
            <a:rect l="l" t="t" r="r" b="b"/>
            <a:pathLst>
              <a:path w="12878361" h="2482011">
                <a:moveTo>
                  <a:pt x="0" y="0"/>
                </a:moveTo>
                <a:lnTo>
                  <a:pt x="12878361" y="0"/>
                </a:lnTo>
                <a:lnTo>
                  <a:pt x="12878361" y="2482012"/>
                </a:lnTo>
                <a:lnTo>
                  <a:pt x="0" y="2482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972210" y="2110990"/>
            <a:ext cx="5333590" cy="604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584"/>
              </a:lnSpc>
            </a:pPr>
            <a:r>
              <a:rPr lang="en-US" sz="4284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Kiểm Thử </a:t>
            </a:r>
            <a:r>
              <a:rPr lang="en-US" sz="4284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Hệ</a:t>
            </a:r>
            <a:r>
              <a:rPr lang="en-US" sz="4284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4284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Thống</a:t>
            </a:r>
            <a:endParaRPr lang="en-US" sz="4284" b="1" dirty="0">
              <a:solidFill>
                <a:srgbClr val="000000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2694043" y="6238477"/>
            <a:ext cx="12878361" cy="2482011"/>
          </a:xfrm>
          <a:custGeom>
            <a:avLst/>
            <a:gdLst/>
            <a:ahLst/>
            <a:cxnLst/>
            <a:rect l="l" t="t" r="r" b="b"/>
            <a:pathLst>
              <a:path w="12878361" h="2482011">
                <a:moveTo>
                  <a:pt x="0" y="0"/>
                </a:moveTo>
                <a:lnTo>
                  <a:pt x="12878361" y="0"/>
                </a:lnTo>
                <a:lnTo>
                  <a:pt x="12878361" y="2482011"/>
                </a:lnTo>
                <a:lnTo>
                  <a:pt x="0" y="2482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429661" y="3706152"/>
            <a:ext cx="9894900" cy="123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81"/>
              </a:lnSpc>
            </a:pPr>
            <a:r>
              <a:rPr lang="en-US" sz="325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Trang </a:t>
            </a:r>
            <a:r>
              <a:rPr lang="en-US" sz="325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Đăng</a:t>
            </a:r>
            <a:r>
              <a:rPr lang="en-US" sz="325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25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Ký</a:t>
            </a:r>
            <a:r>
              <a:rPr lang="en-US" sz="325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 : Đạt ✓</a:t>
            </a:r>
          </a:p>
          <a:p>
            <a:pPr>
              <a:lnSpc>
                <a:spcPts val="5081"/>
              </a:lnSpc>
            </a:pPr>
            <a:r>
              <a:rPr lang="en-US" sz="325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Trang </a:t>
            </a:r>
            <a:r>
              <a:rPr lang="en-US" sz="325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Đăng</a:t>
            </a:r>
            <a:r>
              <a:rPr lang="en-US" sz="325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25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Nhập</a:t>
            </a:r>
            <a:r>
              <a:rPr lang="en-US" sz="325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: Đạt ✓</a:t>
            </a:r>
            <a:endParaRPr lang="en-US" sz="3250" b="1">
              <a:solidFill>
                <a:srgbClr val="FFFFFF"/>
              </a:solidFill>
              <a:latin typeface="Montserrat Bold"/>
              <a:ea typeface="Montserrat Bold"/>
              <a:cs typeface="Montserrat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429661" y="6488692"/>
            <a:ext cx="9894900" cy="123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81"/>
              </a:lnSpc>
            </a:pPr>
            <a:r>
              <a:rPr lang="en-US" sz="325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Tư</a:t>
            </a:r>
            <a:r>
              <a:rPr lang="en-US" sz="325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25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vấn</a:t>
            </a:r>
            <a:r>
              <a:rPr lang="en-US" sz="325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25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tự</a:t>
            </a:r>
            <a:r>
              <a:rPr lang="en-US" sz="325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25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động</a:t>
            </a:r>
            <a:r>
              <a:rPr lang="en-US" sz="325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Đạt ✓</a:t>
            </a:r>
          </a:p>
          <a:p>
            <a:pPr>
              <a:lnSpc>
                <a:spcPts val="5081"/>
              </a:lnSpc>
            </a:pPr>
            <a:r>
              <a:rPr lang="en-US" sz="325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Theo </a:t>
            </a:r>
            <a:r>
              <a:rPr lang="en-US" sz="325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dõi</a:t>
            </a:r>
            <a:r>
              <a:rPr lang="en-US" sz="325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 </a:t>
            </a:r>
            <a:r>
              <a:rPr lang="en-US" sz="325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sức</a:t>
            </a:r>
            <a:r>
              <a:rPr lang="en-US" sz="325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25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khỏe</a:t>
            </a:r>
            <a:r>
              <a:rPr lang="en-US" sz="325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25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khách</a:t>
            </a:r>
            <a:r>
              <a:rPr lang="en-US" sz="325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25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hàng</a:t>
            </a:r>
            <a:r>
              <a:rPr lang="en-US" sz="325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Đạt ✓</a:t>
            </a:r>
            <a:endParaRPr lang="en-US" sz="3250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197075" y="3524663"/>
            <a:ext cx="1056248" cy="1186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0776"/>
              </a:lnSpc>
            </a:pPr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3197333" y="6451444"/>
            <a:ext cx="1055989" cy="1186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0774"/>
              </a:lnSpc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12280" y="3336937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11278" y="4982792"/>
            <a:ext cx="4216232" cy="2798045"/>
          </a:xfrm>
          <a:custGeom>
            <a:avLst/>
            <a:gdLst/>
            <a:ahLst/>
            <a:cxnLst/>
            <a:rect l="l" t="t" r="r" b="b"/>
            <a:pathLst>
              <a:path w="4216232" h="2798045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540716" y="2311677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5789" y="-488243"/>
            <a:ext cx="5381659" cy="4060706"/>
          </a:xfrm>
          <a:custGeom>
            <a:avLst/>
            <a:gdLst/>
            <a:ahLst/>
            <a:cxnLst/>
            <a:rect l="l" t="t" r="r" b="b"/>
            <a:pathLst>
              <a:path w="5381659" h="4060706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</p:sp>
      <p:sp>
        <p:nvSpPr>
          <p:cNvPr id="7" name="Freeform 7"/>
          <p:cNvSpPr/>
          <p:nvPr/>
        </p:nvSpPr>
        <p:spPr>
          <a:xfrm flipH="1" flipV="1">
            <a:off x="13345728" y="6736988"/>
            <a:ext cx="5581585" cy="4211560"/>
          </a:xfrm>
          <a:custGeom>
            <a:avLst/>
            <a:gdLst/>
            <a:ahLst/>
            <a:cxnLst/>
            <a:rect l="l" t="t" r="r" b="b"/>
            <a:pathLst>
              <a:path w="5581585" h="4211560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solidFill>
            <a:schemeClr val="accent6"/>
          </a:solidFill>
        </p:spPr>
      </p:sp>
      <p:sp>
        <p:nvSpPr>
          <p:cNvPr id="8" name="TextBox 8"/>
          <p:cNvSpPr txBox="1"/>
          <p:nvPr/>
        </p:nvSpPr>
        <p:spPr>
          <a:xfrm>
            <a:off x="4196550" y="4462337"/>
            <a:ext cx="9894900" cy="3859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74"/>
              </a:lnSpc>
            </a:pPr>
            <a:r>
              <a:rPr lang="en-US" sz="24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✓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Đề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tài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“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Xây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dựng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website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tư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vấn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và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theo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dõi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sức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khỏe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cá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nhân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”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đã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xây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dựng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được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một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hệ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thống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hỗ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trợ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người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dùng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quản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lý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và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theo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dõi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sức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khỏe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hiệu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quả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hơn</a:t>
            </a:r>
            <a:endParaRPr lang="en-US" sz="2451" dirty="0" err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3774"/>
              </a:lnSpc>
            </a:pPr>
            <a:r>
              <a:rPr lang="en-US" sz="24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✓ </a:t>
            </a:r>
            <a:r>
              <a:rPr lang="en-US" sz="2450">
                <a:solidFill>
                  <a:srgbClr val="000000"/>
                </a:solidFill>
                <a:latin typeface="Calibri"/>
                <a:ea typeface="Calibri"/>
                <a:cs typeface="Calibri"/>
                <a:sym typeface="Montserrat"/>
              </a:rPr>
              <a:t>Website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đáp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ứng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các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chức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năng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cơ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bản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như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quản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lý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thông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tin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cá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nhân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,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theo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dõi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chỉ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số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sức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khỏe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và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cung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cấp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kiến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thức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tư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vấn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sức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khỏe</a:t>
            </a:r>
            <a:endParaRPr lang="en-US" sz="2450" dirty="0" err="1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ts val="3774"/>
              </a:lnSpc>
            </a:pPr>
            <a:r>
              <a:rPr lang="en-US" sz="24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✓ 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Qua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quá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trình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thực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hiện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,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đề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tài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giúp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nâng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cao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kỹ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năng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thiết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kế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và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phát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triển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website,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đồng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thời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có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thể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tiếp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tục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phát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triển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thêm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nhiều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tính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năng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trong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tương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lai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để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đáp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ứng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tốt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hơn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nhu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cầu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người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 </a:t>
            </a:r>
            <a:r>
              <a:rPr lang="en-US" sz="2450" dirty="0" err="1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dùng</a:t>
            </a:r>
            <a:r>
              <a:rPr lang="en-US" sz="2450" dirty="0">
                <a:solidFill>
                  <a:srgbClr val="000000"/>
                </a:solidFill>
                <a:ea typeface="+mn-lt"/>
                <a:cs typeface="+mn-lt"/>
                <a:sym typeface="Montserrat"/>
              </a:rPr>
              <a:t>.</a:t>
            </a:r>
            <a:endParaRPr lang="en-US" sz="2450" dirty="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4196550" y="2600130"/>
            <a:ext cx="7315200" cy="1409839"/>
          </a:xfrm>
          <a:custGeom>
            <a:avLst/>
            <a:gdLst/>
            <a:ahLst/>
            <a:cxnLst/>
            <a:rect l="l" t="t" r="r" b="b"/>
            <a:pathLst>
              <a:path w="7315200" h="1409839">
                <a:moveTo>
                  <a:pt x="0" y="0"/>
                </a:moveTo>
                <a:lnTo>
                  <a:pt x="7315200" y="0"/>
                </a:lnTo>
                <a:lnTo>
                  <a:pt x="7315200" y="1409839"/>
                </a:lnTo>
                <a:lnTo>
                  <a:pt x="0" y="1409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727191" y="2895030"/>
            <a:ext cx="4914903" cy="896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43"/>
              </a:lnSpc>
            </a:pPr>
            <a:r>
              <a:rPr lang="en-US" sz="6395" b="1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Kết Luận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168815" y="2927354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488243"/>
            <a:ext cx="4670423" cy="3524046"/>
          </a:xfrm>
          <a:custGeom>
            <a:avLst/>
            <a:gdLst/>
            <a:ahLst/>
            <a:cxnLst/>
            <a:rect l="l" t="t" r="r" b="b"/>
            <a:pathLst>
              <a:path w="4670423" h="3524046">
                <a:moveTo>
                  <a:pt x="0" y="0"/>
                </a:moveTo>
                <a:lnTo>
                  <a:pt x="4670423" y="0"/>
                </a:lnTo>
                <a:lnTo>
                  <a:pt x="4670423" y="3524047"/>
                </a:lnTo>
                <a:lnTo>
                  <a:pt x="0" y="352404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</p:sp>
      <p:sp>
        <p:nvSpPr>
          <p:cNvPr id="7" name="Freeform 7"/>
          <p:cNvSpPr/>
          <p:nvPr/>
        </p:nvSpPr>
        <p:spPr>
          <a:xfrm flipH="1" flipV="1">
            <a:off x="13947662" y="7300977"/>
            <a:ext cx="4521303" cy="3411529"/>
          </a:xfrm>
          <a:custGeom>
            <a:avLst/>
            <a:gdLst/>
            <a:ahLst/>
            <a:cxnLst/>
            <a:rect l="l" t="t" r="r" b="b"/>
            <a:pathLst>
              <a:path w="4521303" h="3411529">
                <a:moveTo>
                  <a:pt x="4521303" y="3411529"/>
                </a:moveTo>
                <a:lnTo>
                  <a:pt x="0" y="3411529"/>
                </a:lnTo>
                <a:lnTo>
                  <a:pt x="0" y="0"/>
                </a:lnTo>
                <a:lnTo>
                  <a:pt x="4521303" y="0"/>
                </a:lnTo>
                <a:lnTo>
                  <a:pt x="4521303" y="3411529"/>
                </a:lnTo>
                <a:close/>
              </a:path>
            </a:pathLst>
          </a:custGeom>
          <a:solidFill>
            <a:schemeClr val="accent6"/>
          </a:solidFill>
        </p:spPr>
      </p:sp>
      <p:sp>
        <p:nvSpPr>
          <p:cNvPr id="8" name="Freeform 8"/>
          <p:cNvSpPr/>
          <p:nvPr/>
        </p:nvSpPr>
        <p:spPr>
          <a:xfrm>
            <a:off x="2715596" y="3455937"/>
            <a:ext cx="12878361" cy="2482011"/>
          </a:xfrm>
          <a:custGeom>
            <a:avLst/>
            <a:gdLst/>
            <a:ahLst/>
            <a:cxnLst/>
            <a:rect l="l" t="t" r="r" b="b"/>
            <a:pathLst>
              <a:path w="12878361" h="2482011">
                <a:moveTo>
                  <a:pt x="0" y="0"/>
                </a:moveTo>
                <a:lnTo>
                  <a:pt x="12878361" y="0"/>
                </a:lnTo>
                <a:lnTo>
                  <a:pt x="12878361" y="2482012"/>
                </a:lnTo>
                <a:lnTo>
                  <a:pt x="0" y="2482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972210" y="2120515"/>
            <a:ext cx="4914903" cy="627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71"/>
              </a:lnSpc>
            </a:pPr>
            <a:r>
              <a:rPr lang="en-US" sz="4552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Hướng Phát Triển</a:t>
            </a:r>
          </a:p>
        </p:txBody>
      </p:sp>
      <p:sp>
        <p:nvSpPr>
          <p:cNvPr id="10" name="Freeform 10"/>
          <p:cNvSpPr/>
          <p:nvPr/>
        </p:nvSpPr>
        <p:spPr>
          <a:xfrm>
            <a:off x="2694043" y="6238477"/>
            <a:ext cx="12878361" cy="2482011"/>
          </a:xfrm>
          <a:custGeom>
            <a:avLst/>
            <a:gdLst/>
            <a:ahLst/>
            <a:cxnLst/>
            <a:rect l="l" t="t" r="r" b="b"/>
            <a:pathLst>
              <a:path w="12878361" h="2482011">
                <a:moveTo>
                  <a:pt x="0" y="0"/>
                </a:moveTo>
                <a:lnTo>
                  <a:pt x="12878361" y="0"/>
                </a:lnTo>
                <a:lnTo>
                  <a:pt x="12878361" y="2482011"/>
                </a:lnTo>
                <a:lnTo>
                  <a:pt x="0" y="2482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429661" y="3706152"/>
            <a:ext cx="9894900" cy="3094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Hướng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phát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triển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của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đề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tài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trong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tương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lai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là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bổ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sung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thêm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các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chức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năng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nâng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cao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như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tư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vấn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trực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tuyến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với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bác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sĩ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,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tích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hợp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trí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tuệ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nhân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tạo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hỗ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trợ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phân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tích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sức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khỏe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,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đồng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bộ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dữ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liệu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với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thiết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bị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thông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minh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và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phát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triển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ứng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dụng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trên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điện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thoại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.</a:t>
            </a:r>
            <a:endParaRPr lang="vi-VN" dirty="0">
              <a:sym typeface="Montserrat Bold"/>
            </a:endParaRPr>
          </a:p>
          <a:p>
            <a:pPr marL="0" lvl="0" indent="0" algn="l">
              <a:lnSpc>
                <a:spcPts val="5078"/>
              </a:lnSpc>
            </a:pPr>
            <a:endParaRPr lang="en-US" sz="3250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429661" y="6488692"/>
            <a:ext cx="9894900" cy="1251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78"/>
              </a:lnSpc>
            </a:pP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Ngoài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ra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,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hệ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thống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có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thể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tăng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cường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bảo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mật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dữ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liệu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và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tối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ưu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giao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diện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để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nâng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cao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trải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nghiệm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người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 </a:t>
            </a:r>
            <a:r>
              <a:rPr lang="en-US" sz="3250" dirty="0" err="1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dùng</a:t>
            </a:r>
            <a:r>
              <a:rPr lang="en-US" sz="3250" dirty="0">
                <a:solidFill>
                  <a:srgbClr val="FFFFFF"/>
                </a:solidFill>
                <a:ea typeface="+mn-lt"/>
                <a:cs typeface="+mn-lt"/>
                <a:sym typeface="Montserrat Bold"/>
              </a:rPr>
              <a:t>.</a:t>
            </a:r>
            <a:endParaRPr lang="vi-VN" sz="3250" dirty="0">
              <a:ea typeface="+mn-lt"/>
              <a:cs typeface="+mn-l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197075" y="3496088"/>
            <a:ext cx="1056248" cy="1267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450"/>
              </a:lnSpc>
            </a:pPr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3197333" y="6422869"/>
            <a:ext cx="1055989" cy="1267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448"/>
              </a:lnSpc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14145" y="0"/>
            <a:ext cx="20409103" cy="1443068"/>
          </a:xfrm>
          <a:custGeom>
            <a:avLst/>
            <a:gdLst/>
            <a:ahLst/>
            <a:cxnLst/>
            <a:rect l="l" t="t" r="r" b="b"/>
            <a:pathLst>
              <a:path w="20409103" h="1443068">
                <a:moveTo>
                  <a:pt x="0" y="0"/>
                </a:moveTo>
                <a:lnTo>
                  <a:pt x="20409103" y="0"/>
                </a:lnTo>
                <a:lnTo>
                  <a:pt x="20409103" y="1443068"/>
                </a:lnTo>
                <a:lnTo>
                  <a:pt x="0" y="1443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</p:sp>
      <p:sp>
        <p:nvSpPr>
          <p:cNvPr id="4" name="Freeform 4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-1648351" y="8843932"/>
            <a:ext cx="20409103" cy="1443068"/>
          </a:xfrm>
          <a:custGeom>
            <a:avLst/>
            <a:gdLst/>
            <a:ahLst/>
            <a:cxnLst/>
            <a:rect l="l" t="t" r="r" b="b"/>
            <a:pathLst>
              <a:path w="20409103" h="1443068">
                <a:moveTo>
                  <a:pt x="20409103" y="1443068"/>
                </a:moveTo>
                <a:lnTo>
                  <a:pt x="0" y="1443068"/>
                </a:lnTo>
                <a:lnTo>
                  <a:pt x="0" y="0"/>
                </a:lnTo>
                <a:lnTo>
                  <a:pt x="20409103" y="0"/>
                </a:lnTo>
                <a:lnTo>
                  <a:pt x="20409103" y="1443068"/>
                </a:lnTo>
                <a:close/>
              </a:path>
            </a:pathLst>
          </a:custGeom>
          <a:solidFill>
            <a:schemeClr val="accent6"/>
          </a:solidFill>
        </p:spPr>
      </p:sp>
      <p:sp>
        <p:nvSpPr>
          <p:cNvPr id="6" name="Freeform 6"/>
          <p:cNvSpPr/>
          <p:nvPr/>
        </p:nvSpPr>
        <p:spPr>
          <a:xfrm>
            <a:off x="13169859" y="5618309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747997" y="3253490"/>
            <a:ext cx="10792006" cy="2364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058"/>
              </a:lnSpc>
            </a:pPr>
            <a:r>
              <a:rPr lang="en-US" sz="16877" b="1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Cảm Ơn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25054" y="5365372"/>
            <a:ext cx="6437892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249"/>
              </a:lnSpc>
            </a:pPr>
            <a:r>
              <a:rPr lang="en-US" sz="3971" b="1" dirty="0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Quý </a:t>
            </a:r>
            <a:r>
              <a:rPr lang="en-US" sz="3971" b="1" dirty="0" err="1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Thầy</a:t>
            </a:r>
            <a:r>
              <a:rPr lang="en-US" sz="3971" b="1" dirty="0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971" b="1" dirty="0" err="1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Cô</a:t>
            </a:r>
            <a:r>
              <a:rPr lang="en-US" sz="3971" b="1" dirty="0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971" b="1" dirty="0" err="1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Và</a:t>
            </a:r>
            <a:r>
              <a:rPr lang="en-US" sz="3971" b="1" dirty="0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971" b="1" dirty="0" err="1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Hội</a:t>
            </a:r>
            <a:r>
              <a:rPr lang="en-US" sz="3971" b="1" dirty="0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971" b="1" dirty="0" err="1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Đồng</a:t>
            </a:r>
            <a:r>
              <a:rPr lang="en-US" sz="3971" b="1" dirty="0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971" b="1" dirty="0" err="1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Đã</a:t>
            </a:r>
            <a:r>
              <a:rPr lang="en-US" sz="3971" b="1" dirty="0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971" b="1" dirty="0" err="1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Lắng</a:t>
            </a:r>
            <a:r>
              <a:rPr lang="en-US" sz="3971" b="1" dirty="0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 Nghe!</a:t>
            </a:r>
          </a:p>
        </p:txBody>
      </p:sp>
      <p:sp>
        <p:nvSpPr>
          <p:cNvPr id="9" name="Freeform 9"/>
          <p:cNvSpPr/>
          <p:nvPr/>
        </p:nvSpPr>
        <p:spPr>
          <a:xfrm flipH="1">
            <a:off x="-1050468" y="1355173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1" y="3396585"/>
                </a:lnTo>
                <a:lnTo>
                  <a:pt x="511814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647</Words>
  <Application>Microsoft Office PowerPoint</Application>
  <PresentationFormat>Tùy chỉnh</PresentationFormat>
  <Paragraphs>62</Paragraphs>
  <Slides>12</Slides>
  <Notes>0</Notes>
  <HiddenSlides>0</HiddenSlides>
  <MMClips>0</MMClips>
  <ScaleCrop>false</ScaleCrop>
  <HeadingPairs>
    <vt:vector size="4" baseType="variant">
      <vt:variant>
        <vt:lpstr>Chủ đề</vt:lpstr>
      </vt:variant>
      <vt:variant>
        <vt:i4>1</vt:i4>
      </vt:variant>
      <vt:variant>
        <vt:lpstr>Tiêu đề Bản chiếu</vt:lpstr>
      </vt:variant>
      <vt:variant>
        <vt:i4>12</vt:i4>
      </vt:variant>
    </vt:vector>
  </HeadingPairs>
  <TitlesOfParts>
    <vt:vector size="13" baseType="lpstr"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SV: Lê Công Tiến Anh GVHD: ThS. Nguyễn Hoàng Duy Thiện</dc:title>
  <cp:lastModifiedBy>Tiến anh Lê</cp:lastModifiedBy>
  <cp:revision>96</cp:revision>
  <dcterms:created xsi:type="dcterms:W3CDTF">2006-08-16T00:00:00Z</dcterms:created>
  <dcterms:modified xsi:type="dcterms:W3CDTF">2026-05-15T06:30:53Z</dcterms:modified>
  <dc:identifier>DAHJDDXdoZQ</dc:identifier>
</cp:coreProperties>
</file>